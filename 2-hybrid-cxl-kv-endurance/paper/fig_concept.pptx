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029200" cy="1508760"/>
  <p:notesSz cx="1508760" cy="5029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3" y="182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LRU prefix cache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79553" y="18288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evicted in write order: EB1 empties</a:t>
            </a:r>
            <a:endParaRPr lang="en-US" sz="600" dirty="0"/>
          </a:p>
        </p:txBody>
      </p:sp>
      <p:sp>
        <p:nvSpPr>
          <p:cNvPr id="4" name="Text 2"/>
          <p:cNvSpPr txBox="1"/>
          <p:nvPr/>
        </p:nvSpPr>
        <p:spPr>
          <a:xfrm>
            <a:off x="0" y="36576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EB1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228600" y="365760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28600" y="365760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28600" y="365760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28600" y="365760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28600" y="3794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28600" y="420624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28600" y="461772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69748" y="502920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310896" y="544068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352044" y="585216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9593" y="365760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399593" y="365760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99593" y="365760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99593" y="365760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399593" y="3794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99593" y="420624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99593" y="461772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440741" y="502920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481889" y="544068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523037" y="585216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0586" y="365760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570586" y="365760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570586" y="365760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70586" y="365760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70586" y="3794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70586" y="420624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70586" y="461772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11734" y="502920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652882" y="544068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694030" y="585216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1578" y="365760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741578" y="365760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741578" y="365760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741578" y="365760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741578" y="3794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741578" y="420624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741578" y="461772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782726" y="502920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23874" y="544068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865022" y="585216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2571" y="365760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912571" y="365760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12571" y="365760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912571" y="365760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912571" y="3794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912571" y="420624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912571" y="461772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953719" y="502920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994867" y="544068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036015" y="585216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83564" y="365760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083564" y="365760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1083564" y="365760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1083564" y="365760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1083564" y="3794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1083564" y="420624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083564" y="461772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1124712" y="502920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1165860" y="544068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1207008" y="585216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54557" y="365760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1254557" y="365760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1254557" y="365760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1254557" y="365760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254557" y="3794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1254557" y="420624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1254557" y="461772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1295705" y="502920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1336853" y="544068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1378001" y="585216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425550" y="365760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1425550" y="365760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1425550" y="365760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1425550" y="365760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1425550" y="3794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1425550" y="420624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1425550" y="461772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1466698" y="502920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1507846" y="544068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1548994" y="585216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0" y="66751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EB2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228600" y="667512"/>
            <a:ext cx="150876" cy="246888"/>
          </a:xfrm>
          <a:prstGeom prst="rect">
            <a:avLst/>
          </a:prstGeom>
          <a:solidFill>
            <a:srgbClr val="5DA5D1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99593" y="667512"/>
            <a:ext cx="150876" cy="246888"/>
          </a:xfrm>
          <a:prstGeom prst="rect">
            <a:avLst/>
          </a:prstGeom>
          <a:solidFill>
            <a:srgbClr val="549FCD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0586" y="667512"/>
            <a:ext cx="150876" cy="246888"/>
          </a:xfrm>
          <a:prstGeom prst="rect">
            <a:avLst/>
          </a:prstGeom>
          <a:solidFill>
            <a:srgbClr val="4A98C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41578" y="667512"/>
            <a:ext cx="150876" cy="246888"/>
          </a:xfrm>
          <a:prstGeom prst="rect">
            <a:avLst/>
          </a:prstGeom>
          <a:solidFill>
            <a:srgbClr val="4090C5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12571" y="667512"/>
            <a:ext cx="150876" cy="246888"/>
          </a:xfrm>
          <a:prstGeom prst="rect">
            <a:avLst/>
          </a:prstGeom>
          <a:solidFill>
            <a:srgbClr val="3989C1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83564" y="667512"/>
            <a:ext cx="150876" cy="246888"/>
          </a:xfrm>
          <a:prstGeom prst="rect">
            <a:avLst/>
          </a:prstGeom>
          <a:solidFill>
            <a:srgbClr val="3181BD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254557" y="667512"/>
            <a:ext cx="150876" cy="246888"/>
          </a:xfrm>
          <a:prstGeom prst="rect">
            <a:avLst/>
          </a:prstGeom>
          <a:solidFill>
            <a:srgbClr val="2979B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425550" y="667512"/>
            <a:ext cx="150876" cy="246888"/>
          </a:xfrm>
          <a:prstGeom prst="rect">
            <a:avLst/>
          </a:prstGeom>
          <a:solidFill>
            <a:srgbClr val="2070B4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0" y="96926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EB3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228600" y="969264"/>
            <a:ext cx="150876" cy="246888"/>
          </a:xfrm>
          <a:prstGeom prst="rect">
            <a:avLst/>
          </a:prstGeom>
          <a:solidFill>
            <a:srgbClr val="1B69A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99593" y="969264"/>
            <a:ext cx="150876" cy="246888"/>
          </a:xfrm>
          <a:prstGeom prst="rect">
            <a:avLst/>
          </a:prstGeom>
          <a:solidFill>
            <a:srgbClr val="1561A9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0586" y="969264"/>
            <a:ext cx="150876" cy="246888"/>
          </a:xfrm>
          <a:prstGeom prst="rect">
            <a:avLst/>
          </a:prstGeom>
          <a:solidFill>
            <a:srgbClr val="0E59A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1578" y="969264"/>
            <a:ext cx="150876" cy="246888"/>
          </a:xfrm>
          <a:prstGeom prst="rect">
            <a:avLst/>
          </a:prstGeom>
          <a:solidFill>
            <a:srgbClr val="09529D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12571" y="969264"/>
            <a:ext cx="150876" cy="246888"/>
          </a:xfrm>
          <a:prstGeom prst="rect">
            <a:avLst/>
          </a:prstGeom>
          <a:solidFill>
            <a:srgbClr val="084A91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83564" y="969264"/>
            <a:ext cx="150876" cy="246888"/>
          </a:xfrm>
          <a:prstGeom prst="rect">
            <a:avLst/>
          </a:prstGeom>
          <a:solidFill>
            <a:srgbClr val="084A91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254557" y="969264"/>
            <a:ext cx="150876" cy="246888"/>
          </a:xfrm>
          <a:prstGeom prst="rect">
            <a:avLst/>
          </a:prstGeom>
          <a:solidFill>
            <a:srgbClr val="084A91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425550" y="969264"/>
            <a:ext cx="150876" cy="246888"/>
          </a:xfrm>
          <a:prstGeom prst="rect">
            <a:avLst/>
          </a:prstGeom>
          <a:solidFill>
            <a:srgbClr val="084A91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79553" y="128930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measured WAF 1.00 to 1.02</a:t>
            </a:r>
            <a:endParaRPr lang="en-US" sz="700" dirty="0"/>
          </a:p>
        </p:txBody>
      </p:sp>
      <p:sp>
        <p:nvSpPr>
          <p:cNvPr id="104" name="Text 102"/>
          <p:cNvSpPr txBox="1"/>
          <p:nvPr/>
        </p:nvSpPr>
        <p:spPr>
          <a:xfrm>
            <a:off x="1755953" y="182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per request, TRIM</a:t>
            </a:r>
            <a:endParaRPr lang="en-US" sz="750" dirty="0"/>
          </a:p>
        </p:txBody>
      </p:sp>
      <p:sp>
        <p:nvSpPr>
          <p:cNvPr id="105" name="Text 103"/>
          <p:cNvSpPr txBox="1"/>
          <p:nvPr/>
        </p:nvSpPr>
        <p:spPr>
          <a:xfrm>
            <a:off x="1755953" y="18288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 B ends: holes in every EB</a:t>
            </a:r>
            <a:endParaRPr lang="en-US" sz="600" dirty="0"/>
          </a:p>
        </p:txBody>
      </p:sp>
      <p:sp>
        <p:nvSpPr>
          <p:cNvPr id="106" name="Text 104"/>
          <p:cNvSpPr txBox="1"/>
          <p:nvPr/>
        </p:nvSpPr>
        <p:spPr>
          <a:xfrm>
            <a:off x="1676400" y="36576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EB1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1905000" y="365760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075993" y="365760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2075993" y="365760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2075993" y="365760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2075993" y="365760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2075993" y="3794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2075993" y="420624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2075993" y="461772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2117141" y="502920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2158289" y="544068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2199437" y="585216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246986" y="365760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417978" y="365760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588971" y="365760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2588971" y="365760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2588971" y="365760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2588971" y="365760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2588971" y="3794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V="1">
            <a:off x="2588971" y="420624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2588971" y="461772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2630119" y="502920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2671267" y="544068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flipV="1">
            <a:off x="2712415" y="585216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759964" y="365760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930957" y="365760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101950" y="365760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3101950" y="365760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3101950" y="365760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3101950" y="365760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3101950" y="3794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3101950" y="420624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3101950" y="461772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3143098" y="502920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3184246" y="544068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flipV="1">
            <a:off x="3225394" y="585216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1676400" y="66751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EB2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1905000" y="667512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1905000" y="667512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flipV="1">
            <a:off x="1905000" y="667512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1905000" y="667512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flipV="1">
            <a:off x="1905000" y="681228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flipV="1">
            <a:off x="1905000" y="7223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flipV="1">
            <a:off x="1905000" y="763524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flipV="1">
            <a:off x="1946148" y="804672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flipV="1">
            <a:off x="1987296" y="845820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flipV="1">
            <a:off x="2028444" y="886968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075993" y="667512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246986" y="667512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417978" y="667512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2417978" y="667512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flipV="1">
            <a:off x="2417978" y="667512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flipV="1">
            <a:off x="2417978" y="667512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2417978" y="681228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flipV="1">
            <a:off x="2417978" y="7223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2417978" y="763524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2459126" y="804672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flipV="1">
            <a:off x="2500274" y="845820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flipV="1">
            <a:off x="2541422" y="886968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588971" y="667512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759964" y="667512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930957" y="667512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flipV="1">
            <a:off x="2930957" y="667512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flipV="1">
            <a:off x="2930957" y="667512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flipV="1">
            <a:off x="2930957" y="667512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flipV="1">
            <a:off x="2930957" y="681228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flipV="1">
            <a:off x="2930957" y="7223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2930957" y="763524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flipV="1">
            <a:off x="2972105" y="804672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3013253" y="845820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flipV="1">
            <a:off x="3054401" y="886968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101950" y="667512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1676400" y="96926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EB3</a:t>
            </a:r>
            <a:endParaRPr lang="en-US" sz="650" dirty="0"/>
          </a:p>
        </p:txBody>
      </p:sp>
      <p:sp>
        <p:nvSpPr>
          <p:cNvPr id="179" name="Shape 177"/>
          <p:cNvSpPr/>
          <p:nvPr/>
        </p:nvSpPr>
        <p:spPr>
          <a:xfrm>
            <a:off x="1905000" y="969264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075993" y="969264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246986" y="969264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flipV="1">
            <a:off x="2246986" y="969264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flipV="1">
            <a:off x="2246986" y="969264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flipV="1">
            <a:off x="2246986" y="969264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V="1">
            <a:off x="2246986" y="982980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2246986" y="1024128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2246986" y="10652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flipV="1">
            <a:off x="2288134" y="1106424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2329282" y="1147572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flipV="1">
            <a:off x="2370430" y="1188720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417978" y="969264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588971" y="969264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759964" y="969264"/>
            <a:ext cx="15087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flipV="1">
            <a:off x="2759964" y="969264"/>
            <a:ext cx="41148" cy="4114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flipV="1">
            <a:off x="2759964" y="969264"/>
            <a:ext cx="82296" cy="8229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flipV="1">
            <a:off x="2759964" y="969264"/>
            <a:ext cx="123444" cy="123444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flipV="1">
            <a:off x="2759964" y="982980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flipV="1">
            <a:off x="2759964" y="1024128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flipV="1">
            <a:off x="2759964" y="1065276"/>
            <a:ext cx="150876" cy="150876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flipV="1">
            <a:off x="2801112" y="1106424"/>
            <a:ext cx="109728" cy="109728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flipV="1">
            <a:off x="2842260" y="1147572"/>
            <a:ext cx="68580" cy="68580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flipV="1">
            <a:off x="2883408" y="1188720"/>
            <a:ext cx="27432" cy="27432"/>
          </a:xfrm>
          <a:prstGeom prst="line">
            <a:avLst/>
          </a:prstGeom>
          <a:noFill/>
          <a:ln w="6350">
            <a:solidFill>
              <a:srgbClr val="666666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2930957" y="969264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101950" y="969264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1755953" y="128930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measured WAF 2.1</a:t>
            </a:r>
            <a:endParaRPr lang="en-US" sz="700" dirty="0"/>
          </a:p>
        </p:txBody>
      </p:sp>
      <p:sp>
        <p:nvSpPr>
          <p:cNvPr id="206" name="Text 204"/>
          <p:cNvSpPr txBox="1"/>
          <p:nvPr/>
        </p:nvSpPr>
        <p:spPr>
          <a:xfrm>
            <a:off x="3432353" y="182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(c) per request, no TRIM</a:t>
            </a:r>
            <a:endParaRPr lang="en-US" sz="750" dirty="0"/>
          </a:p>
        </p:txBody>
      </p:sp>
      <p:sp>
        <p:nvSpPr>
          <p:cNvPr id="207" name="Text 205"/>
          <p:cNvSpPr txBox="1"/>
          <p:nvPr/>
        </p:nvSpPr>
        <p:spPr>
          <a:xfrm>
            <a:off x="3432353" y="18288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B’s pages dead but still valid</a:t>
            </a:r>
            <a:endParaRPr lang="en-US" sz="600" dirty="0"/>
          </a:p>
        </p:txBody>
      </p:sp>
      <p:sp>
        <p:nvSpPr>
          <p:cNvPr id="208" name="Text 206"/>
          <p:cNvSpPr txBox="1"/>
          <p:nvPr/>
        </p:nvSpPr>
        <p:spPr>
          <a:xfrm>
            <a:off x="3352800" y="365760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EB1</a:t>
            </a:r>
            <a:endParaRPr lang="en-US" sz="650" dirty="0"/>
          </a:p>
        </p:txBody>
      </p:sp>
      <p:sp>
        <p:nvSpPr>
          <p:cNvPr id="209" name="Shape 207"/>
          <p:cNvSpPr/>
          <p:nvPr/>
        </p:nvSpPr>
        <p:spPr>
          <a:xfrm>
            <a:off x="3581400" y="365760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3752393" y="365760"/>
            <a:ext cx="150876" cy="246888"/>
          </a:xfrm>
          <a:prstGeom prst="rect">
            <a:avLst/>
          </a:prstGeom>
          <a:solidFill>
            <a:srgbClr val="DD845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1" name="Text 209"/>
          <p:cNvSpPr txBox="1"/>
          <p:nvPr/>
        </p:nvSpPr>
        <p:spPr>
          <a:xfrm>
            <a:off x="3752393" y="365760"/>
            <a:ext cx="1508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700" dirty="0"/>
          </a:p>
        </p:txBody>
      </p:sp>
      <p:sp>
        <p:nvSpPr>
          <p:cNvPr id="212" name="Shape 210"/>
          <p:cNvSpPr/>
          <p:nvPr/>
        </p:nvSpPr>
        <p:spPr>
          <a:xfrm>
            <a:off x="3923386" y="365760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094378" y="365760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265371" y="365760"/>
            <a:ext cx="150876" cy="246888"/>
          </a:xfrm>
          <a:prstGeom prst="rect">
            <a:avLst/>
          </a:prstGeom>
          <a:solidFill>
            <a:srgbClr val="DD845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5" name="Text 213"/>
          <p:cNvSpPr txBox="1"/>
          <p:nvPr/>
        </p:nvSpPr>
        <p:spPr>
          <a:xfrm>
            <a:off x="4265371" y="365760"/>
            <a:ext cx="1508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700" dirty="0"/>
          </a:p>
        </p:txBody>
      </p:sp>
      <p:sp>
        <p:nvSpPr>
          <p:cNvPr id="216" name="Shape 214"/>
          <p:cNvSpPr/>
          <p:nvPr/>
        </p:nvSpPr>
        <p:spPr>
          <a:xfrm>
            <a:off x="4436364" y="365760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4607357" y="365760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778350" y="365760"/>
            <a:ext cx="150876" cy="246888"/>
          </a:xfrm>
          <a:prstGeom prst="rect">
            <a:avLst/>
          </a:prstGeom>
          <a:solidFill>
            <a:srgbClr val="DD845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19" name="Text 217"/>
          <p:cNvSpPr txBox="1"/>
          <p:nvPr/>
        </p:nvSpPr>
        <p:spPr>
          <a:xfrm>
            <a:off x="4778350" y="365760"/>
            <a:ext cx="1508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700" dirty="0"/>
          </a:p>
        </p:txBody>
      </p:sp>
      <p:sp>
        <p:nvSpPr>
          <p:cNvPr id="220" name="Text 218"/>
          <p:cNvSpPr txBox="1"/>
          <p:nvPr/>
        </p:nvSpPr>
        <p:spPr>
          <a:xfrm>
            <a:off x="3352800" y="667512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EB2</a:t>
            </a:r>
            <a:endParaRPr lang="en-US" sz="650" dirty="0"/>
          </a:p>
        </p:txBody>
      </p:sp>
      <p:sp>
        <p:nvSpPr>
          <p:cNvPr id="221" name="Shape 219"/>
          <p:cNvSpPr/>
          <p:nvPr/>
        </p:nvSpPr>
        <p:spPr>
          <a:xfrm>
            <a:off x="3581400" y="667512"/>
            <a:ext cx="150876" cy="246888"/>
          </a:xfrm>
          <a:prstGeom prst="rect">
            <a:avLst/>
          </a:prstGeom>
          <a:solidFill>
            <a:srgbClr val="DD845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2" name="Text 220"/>
          <p:cNvSpPr txBox="1"/>
          <p:nvPr/>
        </p:nvSpPr>
        <p:spPr>
          <a:xfrm>
            <a:off x="3581400" y="667512"/>
            <a:ext cx="1508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700" dirty="0"/>
          </a:p>
        </p:txBody>
      </p:sp>
      <p:sp>
        <p:nvSpPr>
          <p:cNvPr id="223" name="Shape 221"/>
          <p:cNvSpPr/>
          <p:nvPr/>
        </p:nvSpPr>
        <p:spPr>
          <a:xfrm>
            <a:off x="3752393" y="667512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3923386" y="667512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094378" y="667512"/>
            <a:ext cx="150876" cy="246888"/>
          </a:xfrm>
          <a:prstGeom prst="rect">
            <a:avLst/>
          </a:prstGeom>
          <a:solidFill>
            <a:srgbClr val="DD845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6" name="Text 224"/>
          <p:cNvSpPr txBox="1"/>
          <p:nvPr/>
        </p:nvSpPr>
        <p:spPr>
          <a:xfrm>
            <a:off x="4094378" y="667512"/>
            <a:ext cx="1508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700" dirty="0"/>
          </a:p>
        </p:txBody>
      </p:sp>
      <p:sp>
        <p:nvSpPr>
          <p:cNvPr id="227" name="Shape 225"/>
          <p:cNvSpPr/>
          <p:nvPr/>
        </p:nvSpPr>
        <p:spPr>
          <a:xfrm>
            <a:off x="4265371" y="667512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436364" y="667512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4607357" y="667512"/>
            <a:ext cx="150876" cy="246888"/>
          </a:xfrm>
          <a:prstGeom prst="rect">
            <a:avLst/>
          </a:prstGeom>
          <a:solidFill>
            <a:srgbClr val="DD845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30" name="Text 228"/>
          <p:cNvSpPr txBox="1"/>
          <p:nvPr/>
        </p:nvSpPr>
        <p:spPr>
          <a:xfrm>
            <a:off x="4607357" y="667512"/>
            <a:ext cx="1508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700" dirty="0"/>
          </a:p>
        </p:txBody>
      </p:sp>
      <p:sp>
        <p:nvSpPr>
          <p:cNvPr id="231" name="Shape 229"/>
          <p:cNvSpPr/>
          <p:nvPr/>
        </p:nvSpPr>
        <p:spPr>
          <a:xfrm>
            <a:off x="4778350" y="667512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32" name="Text 230"/>
          <p:cNvSpPr txBox="1"/>
          <p:nvPr/>
        </p:nvSpPr>
        <p:spPr>
          <a:xfrm>
            <a:off x="3352800" y="969264"/>
            <a:ext cx="201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EB3</a:t>
            </a:r>
            <a:endParaRPr lang="en-US" sz="650" dirty="0"/>
          </a:p>
        </p:txBody>
      </p:sp>
      <p:sp>
        <p:nvSpPr>
          <p:cNvPr id="233" name="Shape 231"/>
          <p:cNvSpPr/>
          <p:nvPr/>
        </p:nvSpPr>
        <p:spPr>
          <a:xfrm>
            <a:off x="3581400" y="969264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3752393" y="969264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3923386" y="969264"/>
            <a:ext cx="150876" cy="246888"/>
          </a:xfrm>
          <a:prstGeom prst="rect">
            <a:avLst/>
          </a:prstGeom>
          <a:solidFill>
            <a:srgbClr val="DD845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36" name="Text 234"/>
          <p:cNvSpPr txBox="1"/>
          <p:nvPr/>
        </p:nvSpPr>
        <p:spPr>
          <a:xfrm>
            <a:off x="3923386" y="969264"/>
            <a:ext cx="1508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700" dirty="0"/>
          </a:p>
        </p:txBody>
      </p:sp>
      <p:sp>
        <p:nvSpPr>
          <p:cNvPr id="237" name="Shape 235"/>
          <p:cNvSpPr/>
          <p:nvPr/>
        </p:nvSpPr>
        <p:spPr>
          <a:xfrm>
            <a:off x="4094378" y="969264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4265371" y="969264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4436364" y="969264"/>
            <a:ext cx="150876" cy="246888"/>
          </a:xfrm>
          <a:prstGeom prst="rect">
            <a:avLst/>
          </a:prstGeom>
          <a:solidFill>
            <a:srgbClr val="DD8452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40" name="Text 238"/>
          <p:cNvSpPr txBox="1"/>
          <p:nvPr/>
        </p:nvSpPr>
        <p:spPr>
          <a:xfrm>
            <a:off x="4436364" y="969264"/>
            <a:ext cx="1508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700" dirty="0"/>
          </a:p>
        </p:txBody>
      </p:sp>
      <p:sp>
        <p:nvSpPr>
          <p:cNvPr id="241" name="Shape 239"/>
          <p:cNvSpPr/>
          <p:nvPr/>
        </p:nvSpPr>
        <p:spPr>
          <a:xfrm>
            <a:off x="4607357" y="969264"/>
            <a:ext cx="150876" cy="246888"/>
          </a:xfrm>
          <a:prstGeom prst="rect">
            <a:avLst/>
          </a:prstGeom>
          <a:solidFill>
            <a:srgbClr val="55A868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778350" y="969264"/>
            <a:ext cx="150876" cy="246888"/>
          </a:xfrm>
          <a:prstGeom prst="rect">
            <a:avLst/>
          </a:prstGeom>
          <a:solidFill>
            <a:srgbClr val="4C72B0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43" name="Text 241"/>
          <p:cNvSpPr txBox="1"/>
          <p:nvPr/>
        </p:nvSpPr>
        <p:spPr>
          <a:xfrm>
            <a:off x="3432353" y="128930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measured WAF 5.2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2026-10-18T16:16:00Z</dcterms:created>
  <dcterms:modified xsi:type="dcterms:W3CDTF">2026-10-18T16:16:00Z</dcterms:modified>
</cp:coreProperties>
</file>